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12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PIPELINE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146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Anomaly Detection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Enterprise POS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2377440" cy="54864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Ingestion  •  Resilience &amp; Idempotency  •  Live Anomaly Detection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240-513 Data Engineering Principles and Applications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นายมาหะมะ กาลาแต  |  6910120019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สี่ภารกิจหลักที่ครอบคลุมวงจรชีวิตของ Data Pipeline แบบ Real-Time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128C9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6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54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Workload &amp; Edge Case Generation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20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จำลอง Flash Sale, Late Data, Duplicate ID, Negative Amount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640080" cy="640080"/>
          </a:xfrm>
          <a:prstGeom prst="ellipse">
            <a:avLst/>
          </a:prstGeom>
          <a:solidFill>
            <a:srgbClr val="0B3D6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6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697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Resilient Airflow Ingestion Pipeline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063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Deferrable Operator + Idempotent Upsert + Dynamic Alerting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640080" cy="640080"/>
          </a:xfrm>
          <a:prstGeom prst="ellipse">
            <a:avLst/>
          </a:prstGeom>
          <a:solidFill>
            <a:srgbClr val="128C9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6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840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Analytics Dashboard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206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Moving Average + Anomaly Highlight (Real-Time)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640080" cy="640080"/>
          </a:xfrm>
          <a:prstGeom prst="ellipse">
            <a:avLst/>
          </a:prstGeom>
          <a:solidFill>
            <a:srgbClr val="0B3D6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029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6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983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Report &amp; Performance Analysis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349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จริง + ข้อเสนอ Scale สู่ 10,000 TPS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ทดสอบใช้งานจริงบน Docker: Apache Airflow 3.0.2 + PostgreSQL 16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377440"/>
            <a:ext cx="2331720" cy="82296"/>
          </a:xfrm>
          <a:prstGeom prst="rect">
            <a:avLst/>
          </a:prstGeom>
          <a:solidFill>
            <a:srgbClr val="128C9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3347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28803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74720" y="237744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2377440"/>
            <a:ext cx="2331720" cy="82296"/>
          </a:xfrm>
          <a:prstGeom prst="rect">
            <a:avLst/>
          </a:prstGeom>
          <a:solidFill>
            <a:srgbClr val="0B3D6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263347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 DAG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pos_resilient_pipeline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2461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Deferrable Sensor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Idempotent Upsert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8803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309360" y="237744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2377440"/>
            <a:ext cx="2331720" cy="82296"/>
          </a:xfrm>
          <a:prstGeom prst="rect">
            <a:avLst/>
          </a:prstGeom>
          <a:solidFill>
            <a:srgbClr val="128C9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263347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pos_transactions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2461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(is_anomaly)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8803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144000" y="237744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0" y="2377440"/>
            <a:ext cx="2331720" cy="82296"/>
          </a:xfrm>
          <a:prstGeom prst="rect">
            <a:avLst/>
          </a:prstGeom>
          <a:solidFill>
            <a:srgbClr val="0B3D6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1160" y="263347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2461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Avg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Highlight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ไม่มีการจำลองผลลัพธ์ — ทุกองค์ประกอบถูกรันจริงและตรวจสอบผลผ่าน task_instance / pos_transactions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Advanced Workload &amp; Edge Case Generation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pos_generator.py จำลองสภาวะที่ระบบ POS จริงต้องเจอ ในทุกรอบการสร้างข้อมูล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96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819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 Sales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476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ยอดขายพุ่ง 10 เท่าในบาง batch (2/12 รอบ) — จาก ~25 แถว เป็น ~250 แถว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640080" cy="640080"/>
          </a:xfrm>
          <a:prstGeom prst="ellipse">
            <a:avLst/>
          </a:prstGeom>
          <a:solidFill>
            <a:srgbClr val="128C9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🕒</a:t>
            </a:r>
            <a:endParaRPr lang="en-US" sz="196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7249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Latency (Late-Arriving Data)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0906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แต่ละแถวมีโอกาส 15% ที่ event time ย้อนหลัง 6-45 นาทีจากเวลาจริง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640080" cy="640080"/>
          </a:xfrm>
          <a:prstGeom prst="ellipse">
            <a:avLst/>
          </a:prstGeom>
          <a:solidFill>
            <a:srgbClr val="0B3D6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</a:t>
            </a:r>
            <a:endParaRPr lang="en-US" sz="196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8679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Transaction ID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2336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แต่ละแถวมีโอกาส 5% ที่ transaction_id ซ้ำจากที่เคยออกไปแล้ว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029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96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0109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Total Amount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3766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แต่ละแถวมีโอกาส 3% ที่ total_amount ติดลบ (ข้อมูลขยะจากบั๊กเครื่อง POS)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ผลการรันจริง (1 รอบ / 12 ไฟล์)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ตัวเลขยืนยันว่า Edge Case ทำงานตรงตามค่า Probability ที่ตั้งไว้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423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83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Sale batches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886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(batch 4, 8 → 250 แถว/ไฟล์)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2423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28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383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Late-arriving rows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886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 Network Latency Simulation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17920" y="2423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3D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383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 events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886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สุ่มออกมาโดย Generator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06840" y="210312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06840" y="2423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3383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Amount rows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3886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ข้อมูลขยะจำลอง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Resilient Airflow Ingestion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dags/pos_resilient_pipeline.py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" cy="685800"/>
          </a:xfrm>
          <a:prstGeom prst="ellipse">
            <a:avLst/>
          </a:prstGeom>
          <a:solidFill>
            <a:srgbClr val="128C9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459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Deferrable Operator (Resource Optimization)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7568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FileSensor(deferrable=True) แทน mode='poke' — ปล่อย Worker Slot คืนระหว่างรอไฟล์ ให้ Triggerer จัดการแทน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685800" cy="685800"/>
          </a:xfrm>
          <a:prstGeom prst="ellipse">
            <a:avLst/>
          </a:prstGeom>
          <a:solidFill>
            <a:srgbClr val="0B3D6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0175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 &amp; Data Cleanse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44728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... ON CONFLICT (transaction_id) DO UPDATE — รัน DAG ซ้ำกี่ครั้ง ข้อมูลก็ไม่ซ้ำใน DB; negative/duplicate ถูกทำเครื่องหมาย anomaly ไม่ลบทิ้ง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685800" cy="6858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434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3891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Alerting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81888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@task.branch ตรวจยอดขาย/anomaly แล้วส่ง Webhook แบบเลือก Channel ได้ (Slack / Telegram / Line Notify) ผ่าน Airflow Variables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ผลการทดสอบจริงบน Docker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3.0.2 + PostgreSQL 16 (ไม่ใช่ตัวเลขประมาณการ)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8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1,028 = 1,028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แถวทั้งหมด = จำนวน transaction_id ที่ไม่ซ้ำ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886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ไม่มีแถวซ้ำใน Database แม้รันซ้ำหลายรอบ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26280" y="2377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91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ที่ตรวจพบ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886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ถูกทำเครื่องหมายไว้ ไม่ถูกลบทิ้ง เพื่อให้ Dashboard highlight ได้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75320" y="2377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D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91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ครั้งที่ Pipeline ล้มเหลว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886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จากข้อมูลซ้ำ/ข้อมูลขยะ ตลอดการทดสอบ manual + scheduled runs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Live Analytics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dashboard_app.py (Streamlit) — auto-refresh ทุก 15 วินาที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เชื่อมต่อ pos_transactions ผ่าน SQLAlchemy โดยตรง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 (rolling window = 5 ธุรกรรม) เทียบกับยอดขายจริง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ไฮไลต์ Anomaly บนกราฟด้วยเครื่องหมาย X สีแดง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 Anomaly แยกต่างหาก + ตัวกรองตามสาขา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26480" y="17373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🛒 Real-Time POS Anomaly Dashboard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468880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8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158,651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971800"/>
            <a:ext cx="1478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ยอดขายรวม (บาท)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16240" y="2468880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8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1,028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016240" y="2971800"/>
            <a:ext cx="1478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ธุรกรรม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31680" y="2468880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631680" y="2971800"/>
            <a:ext cx="1478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3566160"/>
            <a:ext cx="4846320" cy="1737360"/>
          </a:xfrm>
          <a:prstGeom prst="rect">
            <a:avLst/>
          </a:prstGeom>
          <a:solidFill>
            <a:srgbClr val="F3F6F8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6400800" y="4782312"/>
            <a:ext cx="440575" cy="260604"/>
          </a:xfrm>
          <a:prstGeom prst="line">
            <a:avLst/>
          </a:prstGeom>
          <a:noFill/>
          <a:ln w="25400">
            <a:solidFill>
              <a:srgbClr val="128C9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41375" y="4782312"/>
            <a:ext cx="440575" cy="86868"/>
          </a:xfrm>
          <a:prstGeom prst="line">
            <a:avLst/>
          </a:prstGeom>
          <a:noFill/>
          <a:ln w="25400">
            <a:solidFill>
              <a:srgbClr val="128C9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7281949" y="4347972"/>
            <a:ext cx="440575" cy="521208"/>
          </a:xfrm>
          <a:prstGeom prst="line">
            <a:avLst/>
          </a:prstGeom>
          <a:noFill/>
          <a:ln w="25400">
            <a:solidFill>
              <a:srgbClr val="128C9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2524" y="4347972"/>
            <a:ext cx="440575" cy="260604"/>
          </a:xfrm>
          <a:prstGeom prst="line">
            <a:avLst/>
          </a:prstGeom>
          <a:noFill/>
          <a:ln w="25400">
            <a:solidFill>
              <a:srgbClr val="128C9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8163098" y="4087368"/>
            <a:ext cx="440575" cy="521208"/>
          </a:xfrm>
          <a:prstGeom prst="line">
            <a:avLst/>
          </a:prstGeom>
          <a:noFill/>
          <a:ln w="25400">
            <a:solidFill>
              <a:srgbClr val="128C9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03673" y="4087368"/>
            <a:ext cx="440575" cy="347472"/>
          </a:xfrm>
          <a:prstGeom prst="line">
            <a:avLst/>
          </a:prstGeom>
          <a:noFill/>
          <a:ln w="25400">
            <a:solidFill>
              <a:srgbClr val="128C9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44247" y="4434840"/>
            <a:ext cx="440575" cy="260604"/>
          </a:xfrm>
          <a:prstGeom prst="line">
            <a:avLst/>
          </a:prstGeom>
          <a:noFill/>
          <a:ln w="25400">
            <a:solidFill>
              <a:srgbClr val="128C9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9484822" y="4261104"/>
            <a:ext cx="440575" cy="434340"/>
          </a:xfrm>
          <a:prstGeom prst="line">
            <a:avLst/>
          </a:prstGeom>
          <a:noFill/>
          <a:ln w="25400">
            <a:solidFill>
              <a:srgbClr val="128C9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9925396" y="3913632"/>
            <a:ext cx="440575" cy="347472"/>
          </a:xfrm>
          <a:prstGeom prst="line">
            <a:avLst/>
          </a:prstGeom>
          <a:noFill/>
          <a:ln w="25400">
            <a:solidFill>
              <a:srgbClr val="128C9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65971" y="3913632"/>
            <a:ext cx="440575" cy="608076"/>
          </a:xfrm>
          <a:prstGeom prst="line">
            <a:avLst/>
          </a:prstGeom>
          <a:noFill/>
          <a:ln w="25400">
            <a:solidFill>
              <a:srgbClr val="128C9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06545" y="4521708"/>
            <a:ext cx="440575" cy="260604"/>
          </a:xfrm>
          <a:prstGeom prst="line">
            <a:avLst/>
          </a:prstGeom>
          <a:noFill/>
          <a:ln w="25400">
            <a:solidFill>
              <a:srgbClr val="128C9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8234" y="455371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6" name="Shape 24"/>
          <p:cNvSpPr/>
          <p:nvPr/>
        </p:nvSpPr>
        <p:spPr>
          <a:xfrm>
            <a:off x="9870532" y="420624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0" y="5394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vs Moving Average — จุดสีส้ม = Anomaly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4a — Benchmark: FileSensor Poke vs Reschedule vs Deferrable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วัดจาก task_instance.state จริงบน Airflow Container ทุก 5-8 วินาทีระหว่างรอไฟล์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91640"/>
            <a:ext cx="3520440" cy="82296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FileSensor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mode='poke'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สถานะที่สังเกตจริง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ตลอดการรอ (5/5 samples)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40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Slot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14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ยึด Worker Slot 100% ของเวลารอ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754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ผลต่อ Scalability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029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แย่ที่สุด — scale ไม่ได้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691640"/>
            <a:ext cx="3520440" cy="82296"/>
          </a:xfrm>
          <a:prstGeom prst="rect">
            <a:avLst/>
          </a:prstGeom>
          <a:solidFill>
            <a:srgbClr val="128C9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0" y="19659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FileSensor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mode='reschedule'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788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สถานะที่สังเกตจริง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0632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สลับ up_for_reschedule ↔ running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840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Slot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114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ปล่อย Slot คืนระหว่าง poke interval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4754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ผลต่อ Scalability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5029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ดีขึ้น แต่มี Scheduler overhead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8388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83880" y="1691640"/>
            <a:ext cx="3520440" cy="82296"/>
          </a:xfrm>
          <a:prstGeom prst="rect">
            <a:avLst/>
          </a:prstGeom>
          <a:solidFill>
            <a:srgbClr val="0B3D6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66760" y="19659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FileSensor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(deferrable=True)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2788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สถานะที่สังเกตจริง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30632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ตลอดการรอ (6/6 samples)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3840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Slot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4114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ไม่ใช้ Worker Slot เลย (0%)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4754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ผลต่อ Scalability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5029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ดีที่สุด — พร้อม Scale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4b — Scalability Proposal: สู่ 10,000 Transactions/วินาที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ส่วนประกอบที่ต้องเปลี่ยนเมื่อขยายระบบเกินขีดจำกัดของสถาปัตยกรรมปัจจุบัน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ปัจจุบัน (สาธิตในงานนี้)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ข้อเสนอสำหรับ 10,000 TPS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EAF0F4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288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Landing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 / 5 นาที)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9077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0B3D6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0233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(Streaming)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42519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EAF0F4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18288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Batch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DAG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9077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343400" y="4023360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0B3D6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34840" y="40233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/ Spark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42519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046720" y="1828800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EAF0F4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0" y="18288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(Row-based Upsert)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29077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046720" y="4023360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0B3D6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38160" y="40233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DB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(ClickHouse / BigQuery)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ที่ throughput สูง: Kafka Idempotent Producer + ClickHouse ReplacingMergeTree  |  Alerting แบบ Windowed Stream (Tumbling Window 1s)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สรุปผลลัพธ์ตาม Assessment Rubric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128C9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45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Resilience &amp; Data Quality (30%)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0299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ระบบไม่ล่มเมื่อเจอข้อมูลซ้ำ/ขยะ — DB คงความถูกต้อง 100% (1,028 = 1,028 unique)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128C9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974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Airflow Architecture (25%)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0815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Deferrable Operator + TaskFlow API + XCom ทำงานจริงบน Airflow 3.0.2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128C9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749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Report &amp; Trade-offs (25%)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133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เชิงตัวเลขจากการรันจริง + ข้อเสนอ Scale สู่ Kafka/Columnar DB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128C9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800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Public Deployment (20%)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84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แสดง Anomaly ชัดเจน พร้อม Auto-Refresh แบบ Real-Time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22960" y="3520440"/>
            <a:ext cx="2011680" cy="54864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—  Demo: Task 1-4 (Live Video)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นายมาหะมะ กาลาแต  |  6910120019  |  240-513 Data Engineering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2026-09-12T10:19:22Z</dcterms:created>
  <dcterms:modified xsi:type="dcterms:W3CDTF">2026-09-12T10:19:22Z</dcterms:modified>
</cp:coreProperties>
</file>